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232" y="-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0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67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5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6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43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6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9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t>30/06/2026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55D3C5-B04D-41A5-9B17-C157FCAE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45694"/>
              </p:ext>
            </p:extLst>
          </p:nvPr>
        </p:nvGraphicFramePr>
        <p:xfrm>
          <a:off x="818147" y="665380"/>
          <a:ext cx="23509706" cy="356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740442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AI-Driven Cyber-Security</a:t>
                      </a:r>
                      <a:endParaRPr lang="en-GB" sz="4000" dirty="0"/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7600" dirty="0"/>
                        <a:t>DNS CTI Pipeline</a:t>
                      </a:r>
                      <a:endParaRPr lang="he-IL" sz="7600" dirty="0"/>
                    </a:p>
                    <a:p>
                      <a:pPr algn="ctr"/>
                      <a:r>
                        <a:rPr lang="en-US" sz="5400" dirty="0"/>
                        <a:t>Tal Berkovitch</a:t>
                      </a:r>
                    </a:p>
                    <a:p>
                      <a:pPr algn="ctr"/>
                      <a:r>
                        <a:rPr lang="en-GB" sz="4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2026 · Semester B</a:t>
                      </a:r>
                      <a:endParaRPr lang="en-GB" sz="40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1" dirty="0">
                          <a:solidFill>
                            <a:schemeClr val="bg1"/>
                          </a:solidFill>
                        </a:rPr>
                        <a:t>Andrei </a:t>
                      </a:r>
                      <a:r>
                        <a:rPr lang="en-US" sz="5400" b="1" dirty="0" err="1">
                          <a:solidFill>
                            <a:schemeClr val="bg1"/>
                          </a:solidFill>
                        </a:rPr>
                        <a:t>Kojukhov</a:t>
                      </a:r>
                      <a:endParaRPr lang="en-GB" sz="5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2E9B59-38DC-46AD-A4E5-9A55979323A6}"/>
              </a:ext>
            </a:extLst>
          </p:cNvPr>
          <p:cNvSpPr/>
          <p:nvPr/>
        </p:nvSpPr>
        <p:spPr>
          <a:xfrm>
            <a:off x="818147" y="4591050"/>
            <a:ext cx="23509706" cy="30743308"/>
          </a:xfrm>
          <a:prstGeom prst="roundRect">
            <a:avLst/>
          </a:prstGeom>
          <a:solidFill>
            <a:srgbClr val="009999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410" y="921852"/>
            <a:ext cx="4378492" cy="3092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30000" y="5036447"/>
            <a:ext cx="21060000" cy="375063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 dirty="0">
                <a:solidFill>
                  <a:srgbClr val="0B4F8A"/>
                </a:solidFill>
              </a:rPr>
              <a:t>Introduction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DNS is rarely blocked, so attackers abuse it for covert exfiltration, tunneling and command-and-control (C2) — while generic detectors drown SOCs in false positives.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Goal: a real-time, multi-agent AI SOC that detects DNS abuse unsupervised (no attack labels) and explains each alert as CTI mapped to MITRE ATT&amp;CK.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Objectives: learn benign DNS; flag abuse at &lt;0.1% FPR; auto-generate grounded CTI; run safely air-gapped.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9452211"/>
            <a:ext cx="10620000" cy="701819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>
              <a:spcAft>
                <a:spcPts val="800"/>
              </a:spcAft>
            </a:pPr>
            <a:r>
              <a:rPr sz="5400" b="1" dirty="0">
                <a:solidFill>
                  <a:srgbClr val="0B4F8A"/>
                </a:solidFill>
              </a:rPr>
              <a:t>Method &amp; System Architecture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Isolated 3-container plane (Attacker → Collector → Defender), internal-only, no internet; passive tap on the collector.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Char-embedding autoencoder (lexical, per query): </a:t>
            </a:r>
            <a:r>
              <a:rPr sz="3400" dirty="0" err="1">
                <a:solidFill>
                  <a:srgbClr val="1A1A1A"/>
                </a:solidFill>
              </a:rPr>
              <a:t>Embedding→GRU→latent→GRU</a:t>
            </a:r>
            <a:r>
              <a:rPr sz="3400" dirty="0">
                <a:solidFill>
                  <a:srgbClr val="1A1A1A"/>
                </a:solidFill>
              </a:rPr>
              <a:t>; reconstruction error scores each query name. Benign-only training.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Isolation Forest (</a:t>
            </a:r>
            <a:r>
              <a:rPr sz="3400" dirty="0" err="1">
                <a:solidFill>
                  <a:srgbClr val="1A1A1A"/>
                </a:solidFill>
              </a:rPr>
              <a:t>behavioural</a:t>
            </a:r>
            <a:r>
              <a:rPr sz="3400" dirty="0">
                <a:solidFill>
                  <a:srgbClr val="1A1A1A"/>
                </a:solidFill>
              </a:rPr>
              <a:t>, per window): query rate, subdomain entropy, </a:t>
            </a:r>
            <a:r>
              <a:rPr sz="3400" dirty="0" err="1">
                <a:solidFill>
                  <a:srgbClr val="1A1A1A"/>
                </a:solidFill>
              </a:rPr>
              <a:t>qtype</a:t>
            </a:r>
            <a:r>
              <a:rPr sz="3400" dirty="0">
                <a:solidFill>
                  <a:srgbClr val="1A1A1A"/>
                </a:solidFill>
              </a:rPr>
              <a:t> mix, NXDOMAIN.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CTI: per-feature attribution → MITRE RAG → AG2 LLM (Threat-Analyst + Report-Writer, </a:t>
            </a:r>
            <a:r>
              <a:rPr sz="3400" dirty="0" err="1">
                <a:solidFill>
                  <a:srgbClr val="1A1A1A"/>
                </a:solidFill>
              </a:rPr>
              <a:t>Groq</a:t>
            </a:r>
            <a:r>
              <a:rPr sz="3400" dirty="0">
                <a:solidFill>
                  <a:srgbClr val="1A1A1A"/>
                </a:solidFill>
              </a:rPr>
              <a:t>) → report.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Apache Kafka spine; live </a:t>
            </a:r>
            <a:r>
              <a:rPr sz="3400" dirty="0" err="1">
                <a:solidFill>
                  <a:srgbClr val="1A1A1A"/>
                </a:solidFill>
              </a:rPr>
              <a:t>FastAPI</a:t>
            </a:r>
            <a:r>
              <a:rPr sz="3400" dirty="0">
                <a:solidFill>
                  <a:srgbClr val="1A1A1A"/>
                </a:solidFill>
              </a:rPr>
              <a:t>/SSE SOC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60000" y="9452211"/>
            <a:ext cx="10620000" cy="792000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>
              <a:spcAft>
                <a:spcPts val="800"/>
              </a:spcAft>
            </a:pPr>
            <a:r>
              <a:rPr sz="5400" b="1" dirty="0">
                <a:solidFill>
                  <a:srgbClr val="0B4F8A"/>
                </a:solidFill>
              </a:rPr>
              <a:t>Evaluation &amp; Results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Real corpus: CIC-Bell-DNS-EXF-2021, replayed through the live feature parser.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Char-AE: ROC-AUC 1.000, PR-AUC 1.000, recall 1.000 @ 0.1% FPR — vs ~0.91 ROC for the window-aggregate Isolation Forest.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Domain-shift false positive fixed: reverse-DNS PTR 4.89 → 1.04 via benign augmentation.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Honest limit: high-entropy exfil caught; word-encoded payloads handled by the </a:t>
            </a:r>
            <a:r>
              <a:rPr sz="3400" dirty="0" err="1">
                <a:solidFill>
                  <a:srgbClr val="1A1A1A"/>
                </a:solidFill>
              </a:rPr>
              <a:t>behavioural</a:t>
            </a:r>
            <a:r>
              <a:rPr sz="3400" dirty="0">
                <a:solidFill>
                  <a:srgbClr val="1A1A1A"/>
                </a:solidFill>
              </a:rPr>
              <a:t> detector.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MITRE mapping top-3 = 1.000 (T1572 / T1048.003 / T1071.004); air-gap verified (no internet).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6869187"/>
            <a:ext cx="10620000" cy="532029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>
              <a:spcAft>
                <a:spcPts val="800"/>
              </a:spcAft>
            </a:pPr>
            <a:r>
              <a:rPr sz="5400" b="1" dirty="0">
                <a:solidFill>
                  <a:srgbClr val="0B4F8A"/>
                </a:solidFill>
              </a:rPr>
              <a:t>Conclusions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</a:t>
            </a:r>
            <a:r>
              <a:rPr lang="en-US" sz="3400" dirty="0">
                <a:solidFill>
                  <a:srgbClr val="1A1A1A"/>
                </a:solidFill>
              </a:rPr>
              <a:t>L</a:t>
            </a:r>
            <a:r>
              <a:rPr sz="3400" dirty="0">
                <a:solidFill>
                  <a:srgbClr val="1A1A1A"/>
                </a:solidFill>
              </a:rPr>
              <a:t>abel-free DNS abuse detection at ROC-AUC 1.000 on real data, &lt;0.1% FPR, each alert mapped to MITRE ATT&amp;CK, in a safe isolated lab.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</a:t>
            </a:r>
            <a:r>
              <a:rPr lang="en-US" sz="3400" dirty="0">
                <a:solidFill>
                  <a:srgbClr val="1A1A1A"/>
                </a:solidFill>
              </a:rPr>
              <a:t>The </a:t>
            </a:r>
            <a:r>
              <a:rPr sz="3400" dirty="0">
                <a:solidFill>
                  <a:srgbClr val="1A1A1A"/>
                </a:solidFill>
              </a:rPr>
              <a:t>per-query lexical representation beats window-aggregate </a:t>
            </a:r>
            <a:r>
              <a:rPr sz="3400" dirty="0" err="1">
                <a:solidFill>
                  <a:srgbClr val="1A1A1A"/>
                </a:solidFill>
              </a:rPr>
              <a:t>behaviour</a:t>
            </a:r>
            <a:r>
              <a:rPr sz="3400" dirty="0">
                <a:solidFill>
                  <a:srgbClr val="1A1A1A"/>
                </a:solidFill>
              </a:rPr>
              <a:t> — representation matters more than the algorithm.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</a:t>
            </a:r>
            <a:r>
              <a:rPr sz="3400" dirty="0" err="1">
                <a:solidFill>
                  <a:srgbClr val="1A1A1A"/>
                </a:solidFill>
              </a:rPr>
              <a:t>Defence</a:t>
            </a:r>
            <a:r>
              <a:rPr sz="3400" dirty="0">
                <a:solidFill>
                  <a:srgbClr val="1A1A1A"/>
                </a:solidFill>
              </a:rPr>
              <a:t>-in-depth: lexical + </a:t>
            </a:r>
            <a:r>
              <a:rPr sz="3400" dirty="0" err="1">
                <a:solidFill>
                  <a:srgbClr val="1A1A1A"/>
                </a:solidFill>
              </a:rPr>
              <a:t>behavioural</a:t>
            </a:r>
            <a:r>
              <a:rPr sz="3400" dirty="0">
                <a:solidFill>
                  <a:srgbClr val="1A1A1A"/>
                </a:solidFill>
              </a:rPr>
              <a:t> detectors cover each other's blind spots.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0" y="16982811"/>
            <a:ext cx="10620000" cy="264007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>
              <a:spcAft>
                <a:spcPts val="800"/>
              </a:spcAft>
            </a:pPr>
            <a:r>
              <a:rPr sz="5400" b="1" dirty="0">
                <a:solidFill>
                  <a:srgbClr val="0B4F8A"/>
                </a:solidFill>
              </a:rPr>
              <a:t>Discussions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Extend to more covert-channel protocols; add adaptive thresholds and online learning.</a:t>
            </a:r>
          </a:p>
          <a:p>
            <a:pPr>
              <a:spcAft>
                <a:spcPts val="500"/>
              </a:spcAft>
            </a:pPr>
            <a:r>
              <a:rPr sz="3400" dirty="0">
                <a:solidFill>
                  <a:srgbClr val="1A1A1A"/>
                </a:solidFill>
              </a:rPr>
              <a:t>• Demo video: [QR code placeholder].</a:t>
            </a:r>
          </a:p>
        </p:txBody>
      </p:sp>
      <p:pic>
        <p:nvPicPr>
          <p:cNvPr id="10" name="Picture 9" descr="DNS CTI Pipeline 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000" y="23567876"/>
            <a:ext cx="20160000" cy="99530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20000" y="33701925"/>
            <a:ext cx="201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i="1" dirty="0">
                <a:solidFill>
                  <a:srgbClr val="0B4F8A"/>
                </a:solidFill>
              </a:rPr>
              <a:t>Live SOC dashboard (egress): traffic feed · detector model · MITRE stats · LLM situation summary</a:t>
            </a:r>
          </a:p>
        </p:txBody>
      </p:sp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4740</TotalTime>
  <Words>402</Words>
  <Application>Microsoft Office PowerPoint</Application>
  <PresentationFormat>מותאם אישית</PresentationFormat>
  <Paragraphs>29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Patashov</dc:creator>
  <cp:lastModifiedBy>Tal Berkovitch</cp:lastModifiedBy>
  <cp:revision>56</cp:revision>
  <dcterms:created xsi:type="dcterms:W3CDTF">2019-01-27T10:54:29Z</dcterms:created>
  <dcterms:modified xsi:type="dcterms:W3CDTF">2026-06-30T18:46:39Z</dcterms:modified>
</cp:coreProperties>
</file>