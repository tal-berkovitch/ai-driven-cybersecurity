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9C2FF"/>
                </a:solidFill>
                <a:latin typeface="Segoe UI"/>
              </a:rPr>
              <a:t>MULTI-AGENT AI · SECURITY OPERATIONS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74519"/>
            <a:ext cx="10607040" cy="173893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 dirty="0">
                <a:solidFill>
                  <a:srgbClr val="F2F6FC"/>
                </a:solidFill>
                <a:latin typeface="Segoe UI"/>
              </a:rPr>
              <a:t>DNS Threat Detection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 dirty="0">
                <a:solidFill>
                  <a:srgbClr val="F2F6FC"/>
                </a:solidFill>
                <a:latin typeface="Segoe UI"/>
              </a:rPr>
              <a:t>&amp; </a:t>
            </a:r>
            <a:r>
              <a:rPr lang="en-US" sz="5400" b="1" dirty="0">
                <a:solidFill>
                  <a:srgbClr val="F2F6FC"/>
                </a:solidFill>
                <a:latin typeface="Segoe UI"/>
              </a:rPr>
              <a:t>CTI </a:t>
            </a:r>
            <a:r>
              <a:rPr lang="en-US" sz="5400" b="1" i="0" dirty="0">
                <a:solidFill>
                  <a:srgbClr val="F2F6FC"/>
                </a:solidFill>
                <a:latin typeface="Segoe UI"/>
              </a:rPr>
              <a:t>Pipeline</a:t>
            </a:r>
            <a:endParaRPr sz="5400" b="1" i="0" dirty="0">
              <a:solidFill>
                <a:srgbClr val="F2F6FC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93A4C2"/>
                </a:solidFill>
                <a:latin typeface="Segoe UI"/>
              </a:rPr>
              <a:t>Unsupervised detection of DNS exfiltration · tunneling · C2 — explained as MITRE ATT&amp;CK CTI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526280"/>
            <a:ext cx="3657600" cy="36576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92333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 dirty="0">
                <a:solidFill>
                  <a:srgbClr val="F2F6FC"/>
                </a:solidFill>
                <a:latin typeface="Segoe UI"/>
              </a:rPr>
              <a:t>Tal Berkovitch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500" b="0" i="0">
                <a:solidFill>
                  <a:srgbClr val="93A4C2"/>
                </a:solidFill>
                <a:latin typeface="Segoe UI"/>
              </a:rPr>
              <a:t>AI-Driven Cyber-Security</a:t>
            </a:r>
            <a:r>
              <a:rPr sz="1500" b="0" i="0">
                <a:solidFill>
                  <a:srgbClr val="93A4C2"/>
                </a:solidFill>
                <a:latin typeface="Segoe UI"/>
              </a:rPr>
              <a:t>  </a:t>
            </a:r>
            <a:r>
              <a:rPr sz="1500" b="0" i="0" dirty="0">
                <a:solidFill>
                  <a:srgbClr val="93A4C2"/>
                </a:solidFill>
                <a:latin typeface="Segoe UI"/>
              </a:rPr>
              <a:t>·  Holon Institute of Technology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dirty="0">
                <a:solidFill>
                  <a:srgbClr val="93A4C2"/>
                </a:solidFill>
                <a:latin typeface="Segoe UI"/>
              </a:rPr>
              <a:t>Lecturer: Andrei </a:t>
            </a:r>
            <a:r>
              <a:rPr sz="1500" b="0" i="0" dirty="0" err="1">
                <a:solidFill>
                  <a:srgbClr val="93A4C2"/>
                </a:solidFill>
                <a:latin typeface="Segoe UI"/>
              </a:rPr>
              <a:t>Kojukhov</a:t>
            </a:r>
            <a:r>
              <a:rPr sz="1500" b="0" i="0" dirty="0">
                <a:solidFill>
                  <a:srgbClr val="93A4C2"/>
                </a:solidFill>
                <a:latin typeface="Segoe UI"/>
              </a:rPr>
              <a:t>   ·   2026 · Semester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978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7830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6E09B"/>
                </a:solidFill>
                <a:latin typeface="Segoe UI"/>
              </a:rPr>
              <a:t>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2784"/>
            <a:ext cx="1783080" cy="2377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3A4C2"/>
                </a:solidFill>
                <a:latin typeface="Segoe UI"/>
              </a:rPr>
              <a:t>ROC-AUC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58978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5943600"/>
            <a:ext cx="17830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6272784"/>
            <a:ext cx="1783080" cy="2377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3A4C2"/>
                </a:solidFill>
                <a:latin typeface="Segoe UI"/>
              </a:rPr>
              <a:t>MITRE TOP-3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58978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5943600"/>
            <a:ext cx="178308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B8CFF"/>
                </a:solidFill>
                <a:latin typeface="Segoe UI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6272784"/>
            <a:ext cx="1783080" cy="23774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3A4C2"/>
                </a:solidFill>
                <a:latin typeface="Segoe UI"/>
              </a:rPr>
              <a:t>AIR-GAPPED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0241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2F6FC"/>
                </a:solidFill>
                <a:latin typeface="Segoe UI"/>
              </a:rPr>
              <a:t>The pipeline: capture → detect → explain → stream</a:t>
            </a:r>
          </a:p>
        </p:txBody>
      </p:sp>
      <p:sp>
        <p:nvSpPr>
          <p:cNvPr id="6" name="Oval 5"/>
          <p:cNvSpPr/>
          <p:nvPr/>
        </p:nvSpPr>
        <p:spPr>
          <a:xfrm>
            <a:off x="11247120" y="411480"/>
            <a:ext cx="566928" cy="566928"/>
          </a:xfrm>
          <a:prstGeom prst="ellipse">
            <a:avLst/>
          </a:prstGeom>
          <a:solidFill>
            <a:srgbClr val="142038"/>
          </a:solidFill>
          <a:ln w="1524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41148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1463040" cy="4572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691640"/>
            <a:ext cx="7315200" cy="23317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778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7040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B6B"/>
                </a:solidFill>
                <a:latin typeface="Segoe UI"/>
              </a:rPr>
              <a:t>🔒 AIR-GAPPED DETONATION PLANE  ·  internal-only Docker net, no internet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487168"/>
            <a:ext cx="20574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6FC"/>
                </a:solidFill>
                <a:latin typeface="Segoe UI"/>
              </a:rPr>
              <a:t>Attacker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20574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benign DNS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20574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3 attack injectors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62072" y="2907792"/>
            <a:ext cx="292608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127248" y="233172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27248" y="2487168"/>
            <a:ext cx="20574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6FC"/>
                </a:solidFill>
                <a:latin typeface="Segoe UI"/>
              </a:rPr>
              <a:t>Collector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907792"/>
            <a:ext cx="20574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dnsmasq resolver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218688"/>
            <a:ext cx="20574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+ passive tap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12079" y="2907792"/>
            <a:ext cx="292608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77256" y="233172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46E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77256" y="2487168"/>
            <a:ext cx="20574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2F6FC"/>
                </a:solidFill>
                <a:latin typeface="Segoe UI"/>
              </a:rPr>
              <a:t>Defender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2907792"/>
            <a:ext cx="20574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capture →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3218688"/>
            <a:ext cx="205740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→ DETECTOR → alert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69164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778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B8CFF"/>
                </a:solidFill>
                <a:latin typeface="Segoe UI"/>
              </a:rPr>
              <a:t>EGRESS SOC ZONE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28600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2340864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F6FC"/>
                </a:solidFill>
                <a:latin typeface="Segoe UI"/>
              </a:rPr>
              <a:t>Apache Kafka spine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92608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3035808"/>
            <a:ext cx="14173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2F6FC"/>
                </a:solidFill>
                <a:latin typeface="Segoe UI"/>
              </a:rPr>
              <a:t>CTI worker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AG2 agents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292608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12680" y="3035808"/>
            <a:ext cx="14173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2F6FC"/>
                </a:solidFill>
                <a:latin typeface="Segoe UI"/>
              </a:rPr>
              <a:t>SOC UI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FastAPI/SSE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82127" y="2926080"/>
            <a:ext cx="31089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66928" y="429768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3246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9C2FF"/>
                </a:solidFill>
                <a:latin typeface="Segoe UI"/>
              </a:rPr>
              <a:t>Behaviour, not signatures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36592"/>
            <a:ext cx="3246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learns the benign DNS heartbeat — no attack labels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0248" y="429768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4389120"/>
            <a:ext cx="3246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9C2FF"/>
                </a:solidFill>
                <a:latin typeface="Segoe UI"/>
              </a:rPr>
              <a:t>Pluggable detector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736592"/>
            <a:ext cx="3246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CPU char-AE / Isolation Forest ↔ Morpheus GPU, one flag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7" y="4297680"/>
            <a:ext cx="3520440" cy="96012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59" y="4389120"/>
            <a:ext cx="3246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9C2FF"/>
                </a:solidFill>
                <a:latin typeface="Segoe UI"/>
              </a:rPr>
              <a:t>Detect → Explain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59" y="4736592"/>
            <a:ext cx="3246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every alert becomes grounded, analyst-ready CTI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532120"/>
            <a:ext cx="1106424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3A4C2"/>
                </a:solidFill>
                <a:latin typeface="Segoe UI"/>
              </a:rPr>
              <a:t>Topics are </a:t>
            </a:r>
            <a:r>
              <a:rPr sz="1300" b="1" i="0">
                <a:solidFill>
                  <a:srgbClr val="F2F6FC"/>
                </a:solidFill>
                <a:latin typeface="Segoe UI"/>
              </a:rPr>
              <a:t>one-way</a:t>
            </a:r>
            <a:r>
              <a:rPr sz="1300" b="0" i="0">
                <a:solidFill>
                  <a:srgbClr val="93A4C2"/>
                </a:solidFill>
                <a:latin typeface="Segoe UI"/>
              </a:rPr>
              <a:t> (publish capture/alerts → consume); the detonation plane never gets a route out. Verified: </a:t>
            </a:r>
            <a:r>
              <a:rPr sz="1300" b="1" i="0">
                <a:solidFill>
                  <a:srgbClr val="46E09B"/>
                </a:solidFill>
                <a:latin typeface="Segoe UI"/>
              </a:rPr>
              <a:t>defender → 8.8.8.8 unreachable.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THE DEEP-LEARNING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0241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2F6FC"/>
                </a:solidFill>
                <a:latin typeface="Segoe UI"/>
              </a:rPr>
              <a:t>From a window AE to a character-sequence AE</a:t>
            </a:r>
          </a:p>
        </p:txBody>
      </p:sp>
      <p:sp>
        <p:nvSpPr>
          <p:cNvPr id="6" name="Oval 5"/>
          <p:cNvSpPr/>
          <p:nvPr/>
        </p:nvSpPr>
        <p:spPr>
          <a:xfrm>
            <a:off x="11247120" y="411480"/>
            <a:ext cx="566928" cy="566928"/>
          </a:xfrm>
          <a:prstGeom prst="ellipse">
            <a:avLst/>
          </a:prstGeom>
          <a:solidFill>
            <a:srgbClr val="142038"/>
          </a:solidFill>
          <a:ln w="1524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41148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1463040" cy="4572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691640"/>
            <a:ext cx="5349240" cy="24688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937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93A4C2"/>
                </a:solidFill>
                <a:latin typeface="Segoe UI"/>
              </a:rPr>
              <a:t>v1 · Window autoencoder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93776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93A4C2"/>
                </a:solidFill>
                <a:latin typeface="Segoe UI"/>
              </a:rPr>
              <a:t>Input = a vector of </a:t>
            </a:r>
            <a:r>
              <a:rPr sz="1250" b="1" i="0">
                <a:solidFill>
                  <a:srgbClr val="F2F6FC"/>
                </a:solidFill>
                <a:latin typeface="Segoe UI"/>
              </a:rPr>
              <a:t>aggregate window features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(rates, counts, entropy).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93A4C2"/>
                </a:solidFill>
                <a:latin typeface="Segoe UI"/>
              </a:rPr>
              <a:t>Dense AE reconstructs the vector; large error = anomaly.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49377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FFC46B"/>
                </a:solidFill>
                <a:latin typeface="Segoe UI"/>
              </a:rPr>
              <a:t>⚠ Throws away the qname text itself — the most discriminating signal. Tops out ~0.91 ROC.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349240" cy="24688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905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810512"/>
            <a:ext cx="4937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9C2FF"/>
                </a:solidFill>
                <a:latin typeface="Segoe UI"/>
              </a:rPr>
              <a:t>v2 · Character-embedding sequence 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286000"/>
            <a:ext cx="841248" cy="5029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F2F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841248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2F6FC"/>
                </a:solidFill>
                <a:latin typeface="Segoe UI"/>
              </a:rPr>
              <a:t>qname chars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69480" y="2432304"/>
            <a:ext cx="14630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33488" y="2286000"/>
            <a:ext cx="841248" cy="5029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33488" y="2331720"/>
            <a:ext cx="841248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9C2FF"/>
                </a:solidFill>
                <a:latin typeface="Segoe UI"/>
              </a:rPr>
              <a:t>Embedding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56448" y="2432304"/>
            <a:ext cx="14630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0456" y="2286000"/>
            <a:ext cx="841248" cy="5029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6" y="2331720"/>
            <a:ext cx="841248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9C2FF"/>
                </a:solidFill>
                <a:latin typeface="Segoe UI"/>
              </a:rPr>
              <a:t>GRU enc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43416" y="2432304"/>
            <a:ext cx="14630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07424" y="2286000"/>
            <a:ext cx="841248" cy="5029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07424" y="2331720"/>
            <a:ext cx="841248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9C2FF"/>
                </a:solidFill>
                <a:latin typeface="Segoe UI"/>
              </a:rPr>
              <a:t>latent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930384" y="2432304"/>
            <a:ext cx="14630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94392" y="2286000"/>
            <a:ext cx="841248" cy="5029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94392" y="2331720"/>
            <a:ext cx="841248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9C2FF"/>
                </a:solidFill>
                <a:latin typeface="Segoe UI"/>
              </a:rPr>
              <a:t>GRU dec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817352" y="2432304"/>
            <a:ext cx="14630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881360" y="2286000"/>
            <a:ext cx="841248" cy="5029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F2F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81360" y="2331720"/>
            <a:ext cx="841248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2F6FC"/>
                </a:solidFill>
                <a:latin typeface="Segoe UI"/>
              </a:rPr>
              <a:t>recon 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2971800"/>
            <a:ext cx="493776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3A4C2"/>
                </a:solidFill>
                <a:latin typeface="Segoe UI"/>
              </a:rPr>
              <a:t>Reads each query name </a:t>
            </a:r>
            <a:r>
              <a:rPr sz="1250" b="1" i="0">
                <a:solidFill>
                  <a:srgbClr val="F2F6FC"/>
                </a:solidFill>
                <a:latin typeface="Segoe UI"/>
              </a:rPr>
              <a:t>character by character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and learns the lexical shape of benign names.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3A4C2"/>
                </a:solidFill>
                <a:latin typeface="Segoe UI"/>
              </a:rPr>
              <a:t>High-entropy base32/base64 exfil labels reconstruct badly → they stand out.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434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6510">
            <a:solidFill>
              <a:srgbClr val="46E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443984"/>
            <a:ext cx="106070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6E09B"/>
                </a:solidFill>
                <a:latin typeface="Segoe UI"/>
              </a:rPr>
              <a:t>Why representation beats the algorithm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09744"/>
            <a:ext cx="10698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3A4C2"/>
                </a:solidFill>
                <a:latin typeface="Segoe UI"/>
              </a:rPr>
              <a:t>Same data, same anomaly idea — only the </a:t>
            </a:r>
            <a:r>
              <a:rPr sz="1250" b="1" i="0">
                <a:solidFill>
                  <a:srgbClr val="F2F6FC"/>
                </a:solidFill>
                <a:latin typeface="Segoe UI"/>
              </a:rPr>
              <a:t>input representation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changed: per-query lexical signal lifts held-out exfil from ~0.91 to </a:t>
            </a:r>
            <a:r>
              <a:rPr sz="1250" b="1" i="0">
                <a:solidFill>
                  <a:srgbClr val="46E09B"/>
                </a:solidFill>
                <a:latin typeface="Segoe UI"/>
              </a:rPr>
              <a:t>ROC-AUC 1.000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(recall 1.000 @ 0.1% FPR). Trained on benign names only.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32120"/>
            <a:ext cx="110642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3A4C2"/>
                </a:solidFill>
                <a:latin typeface="Segoe UI"/>
              </a:rPr>
              <a:t>A bootstrapped, </a:t>
            </a:r>
            <a:r>
              <a:rPr sz="1250" b="1" i="0">
                <a:solidFill>
                  <a:srgbClr val="F2F6FC"/>
                </a:solidFill>
                <a:latin typeface="Segoe UI"/>
              </a:rPr>
              <a:t>window-aware threshold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(~3.93, frozen at training time) controls the per-window false-positive rate; a window alerts on its worst qname.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DEFENCE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0241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2F6FC"/>
                </a:solidFill>
                <a:latin typeface="Segoe UI"/>
              </a:rPr>
              <a:t>Two detectors behind one pluggable interface</a:t>
            </a:r>
          </a:p>
        </p:txBody>
      </p:sp>
      <p:sp>
        <p:nvSpPr>
          <p:cNvPr id="6" name="Oval 5"/>
          <p:cNvSpPr/>
          <p:nvPr/>
        </p:nvSpPr>
        <p:spPr>
          <a:xfrm>
            <a:off x="11247120" y="411480"/>
            <a:ext cx="566928" cy="566928"/>
          </a:xfrm>
          <a:prstGeom prst="ellipse">
            <a:avLst/>
          </a:prstGeom>
          <a:solidFill>
            <a:srgbClr val="142038"/>
          </a:solidFill>
          <a:ln w="1524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41148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1463040" cy="4572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691640"/>
            <a:ext cx="5440680" cy="306324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10512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9C2FF"/>
                </a:solidFill>
                <a:latin typeface="Segoe UI"/>
              </a:rPr>
              <a:t>LEXICAL · per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2F6FC"/>
                </a:solidFill>
                <a:latin typeface="Segoe UI"/>
              </a:rPr>
              <a:t>Character-embedding 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97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9C2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F2F6FC"/>
                </a:solidFill>
                <a:latin typeface="Segoe UI"/>
              </a:rPr>
              <a:t>Scores the text of each query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0040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9C2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93A4C2"/>
                </a:solidFill>
                <a:latin typeface="Segoe UI"/>
              </a:rPr>
              <a:t>Catches long, high-entropy encoded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70332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9C2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93A4C2"/>
                </a:solidFill>
                <a:latin typeface="Segoe UI"/>
              </a:rPr>
              <a:t>PyTorch · Embedding→GRU→latent→GRU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20624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9C2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93A4C2"/>
                </a:solidFill>
                <a:latin typeface="Segoe UI"/>
              </a:rPr>
              <a:t>ROC-AUC 1.000 on real CIC-Bell exfil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1691640"/>
            <a:ext cx="5440680" cy="306324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810512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9B8CFF"/>
                </a:solidFill>
                <a:latin typeface="Segoe UI"/>
              </a:rPr>
              <a:t>BEHAVIOURAL · per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121408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2F6FC"/>
                </a:solidFill>
                <a:latin typeface="Segoe UI"/>
              </a:rPr>
              <a:t>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97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F2F6FC"/>
                </a:solidFill>
                <a:latin typeface="Segoe UI"/>
              </a:rPr>
              <a:t>Scores aggregate window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20040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93A4C2"/>
                </a:solidFill>
                <a:latin typeface="Segoe UI"/>
              </a:rPr>
              <a:t>query rate · subdomain entropy · qtype mix · NXDOMAIN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70332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93A4C2"/>
                </a:solidFill>
                <a:latin typeface="Segoe UI"/>
              </a:rPr>
              <a:t>scikit-learn · isolates rare points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20624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Segoe UI"/>
              </a:rPr>
              <a:t>▸ </a:t>
            </a:r>
            <a:r>
              <a:rPr sz="1250" b="1" i="0">
                <a:solidFill>
                  <a:srgbClr val="93A4C2"/>
                </a:solidFill>
                <a:latin typeface="Segoe UI"/>
              </a:rPr>
              <a:t>Covers word-encoded, low-and-slow abuse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83480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06984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F6FC"/>
                </a:solidFill>
                <a:latin typeface="Segoe UI"/>
              </a:rPr>
              <a:t>Complementary blind spots: 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the lexical model is, by design, blind to word-encoded payloads — the behavioural model catches those. Both behind one </a:t>
            </a:r>
            <a:r>
              <a:rPr sz="1250" b="1" i="0">
                <a:solidFill>
                  <a:srgbClr val="39C2FF"/>
                </a:solidFill>
                <a:latin typeface="Segoe UI"/>
              </a:rPr>
              <a:t>Detector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contract (fit/score/save/load).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97880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3A4C2"/>
                </a:solidFill>
                <a:latin typeface="Consolas"/>
              </a:rPr>
              <a:t>DETECTOR_BACKEND = </a:t>
            </a:r>
            <a:r>
              <a:rPr sz="1300" b="1" i="0">
                <a:solidFill>
                  <a:srgbClr val="39C2FF"/>
                </a:solidFill>
                <a:latin typeface="Consolas"/>
              </a:rPr>
              <a:t>charae</a:t>
            </a:r>
            <a:r>
              <a:rPr sz="1300" b="0" i="0">
                <a:solidFill>
                  <a:srgbClr val="93A4C2"/>
                </a:solidFill>
                <a:latin typeface="Consolas"/>
              </a:rPr>
              <a:t> | </a:t>
            </a:r>
            <a:r>
              <a:rPr sz="1300" b="1" i="0">
                <a:solidFill>
                  <a:srgbClr val="9B8CFF"/>
                </a:solidFill>
                <a:latin typeface="Consolas"/>
              </a:rPr>
              <a:t>isolation_forest</a:t>
            </a:r>
            <a:r>
              <a:rPr sz="1300" b="0" i="0">
                <a:solidFill>
                  <a:srgbClr val="93A4C2"/>
                </a:solidFill>
                <a:latin typeface="Consolas"/>
              </a:rPr>
              <a:t> | </a:t>
            </a:r>
            <a:r>
              <a:rPr sz="1300" b="1" i="0">
                <a:solidFill>
                  <a:srgbClr val="46E09B"/>
                </a:solidFill>
                <a:latin typeface="Consolas"/>
              </a:rPr>
              <a:t>morpheus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   — swap CPU ↔ NVIDIA Morpheus GPU with one flag, no downstream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0241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2F6FC"/>
                </a:solidFill>
                <a:latin typeface="Segoe UI"/>
              </a:rPr>
              <a:t>How the CTI works: evidence → ATT&amp;CK → report</a:t>
            </a:r>
          </a:p>
        </p:txBody>
      </p:sp>
      <p:sp>
        <p:nvSpPr>
          <p:cNvPr id="6" name="Oval 5"/>
          <p:cNvSpPr/>
          <p:nvPr/>
        </p:nvSpPr>
        <p:spPr>
          <a:xfrm>
            <a:off x="11247120" y="411480"/>
            <a:ext cx="566928" cy="566928"/>
          </a:xfrm>
          <a:prstGeom prst="ellipse">
            <a:avLst/>
          </a:prstGeom>
          <a:solidFill>
            <a:srgbClr val="142038"/>
          </a:solidFill>
          <a:ln w="1524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41148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1463040" cy="4572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2542032" cy="17830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2542032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2F6FC"/>
                </a:solidFill>
                <a:latin typeface="Segoe UI"/>
              </a:rPr>
              <a:t>Alert + attribution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95728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per-feature reconstruction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88336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errors quantify the evidence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7248" y="2542032"/>
            <a:ext cx="274320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83280" y="1783080"/>
            <a:ext cx="2542032" cy="17830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FFC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1920240"/>
            <a:ext cx="2542032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2F6FC"/>
                </a:solidFill>
                <a:latin typeface="Segoe UI"/>
              </a:rPr>
              <a:t>MITRE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395728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retrieve technique cards from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688336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curated DNS ATT&amp;CK knowledge base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2542032"/>
            <a:ext cx="274320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99632" y="1783080"/>
            <a:ext cx="2542032" cy="17830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9632" y="1920240"/>
            <a:ext cx="2542032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2F6FC"/>
                </a:solidFill>
                <a:latin typeface="Segoe UI"/>
              </a:rPr>
              <a:t>AG2 group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95728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Threat-Analyst + Report-Writer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88336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reason over ONLY the retrieved facts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59952" y="2542032"/>
            <a:ext cx="274320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15984" y="1783080"/>
            <a:ext cx="2542032" cy="17830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46E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15984" y="1920240"/>
            <a:ext cx="2542032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2F6FC"/>
                </a:solidFill>
                <a:latin typeface="Segoe UI"/>
              </a:rPr>
              <a:t>SOC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1" y="2395728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Summary · Evidence · MITRE 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1" y="2688336"/>
            <a:ext cx="23317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Severity · Recommended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8862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986784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Grounded, not free-form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50749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3A4C2"/>
                </a:solidFill>
                <a:latin typeface="Segoe UI"/>
              </a:rPr>
              <a:t>The LLM only </a:t>
            </a:r>
            <a:r>
              <a:rPr sz="1200" b="1" i="0">
                <a:solidFill>
                  <a:srgbClr val="F2F6FC"/>
                </a:solidFill>
                <a:latin typeface="Segoe UI"/>
              </a:rPr>
              <a:t>confirms &amp; writes up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 techniques the retrieval already surfaced — it never invents IPs, numbers or indicators.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3A4C2"/>
                </a:solidFill>
                <a:latin typeface="Segoe UI"/>
              </a:rPr>
              <a:t>Deterministic grounded template is the offline fallback (no key → still runs).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8862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986784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9B8CFF"/>
                </a:solidFill>
                <a:latin typeface="Segoe UI"/>
              </a:rPr>
              <a:t>Mapped to three techniques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07408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Consolas"/>
              </a:rPr>
              <a:t>T1572 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Protocol Tunneling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91456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Consolas"/>
              </a:rPr>
              <a:t>T1048.003 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Exfiltration over non-C2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75504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Consolas"/>
              </a:rPr>
              <a:t>T1071.004 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Application Layer Protocol: DNS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852160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6E09B"/>
                </a:solidFill>
                <a:latin typeface="Segoe UI"/>
              </a:rPr>
              <a:t>Correct MITRE technique at top-3 = 1.000 across tunneling, exfiltration and C2.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WHAT MAKES IT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0241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2F6FC"/>
                </a:solidFill>
                <a:latin typeface="Segoe UI"/>
              </a:rPr>
              <a:t>Agents, their tools &amp; the LLM invocations</a:t>
            </a:r>
          </a:p>
        </p:txBody>
      </p:sp>
      <p:sp>
        <p:nvSpPr>
          <p:cNvPr id="6" name="Oval 5"/>
          <p:cNvSpPr/>
          <p:nvPr/>
        </p:nvSpPr>
        <p:spPr>
          <a:xfrm>
            <a:off x="11247120" y="411480"/>
            <a:ext cx="566928" cy="566928"/>
          </a:xfrm>
          <a:prstGeom prst="ellipse">
            <a:avLst/>
          </a:prstGeom>
          <a:solidFill>
            <a:srgbClr val="142038"/>
          </a:solidFill>
          <a:ln w="1524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41148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1463040" cy="4572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691640"/>
            <a:ext cx="6675120" cy="1115568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651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2F6FC"/>
                </a:solidFill>
                <a:latin typeface="Segoe UI"/>
              </a:rPr>
              <a:t>Threat-Analyst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12264"/>
            <a:ext cx="6400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B8CFF"/>
                </a:solidFill>
                <a:latin typeface="Segoe UI"/>
              </a:rPr>
              <a:t>LLM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01368"/>
            <a:ext cx="4434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B8CFF"/>
                </a:solidFill>
                <a:latin typeface="Segoe UI"/>
              </a:rPr>
              <a:t>• </a:t>
            </a:r>
            <a:r>
              <a:rPr sz="1100" b="0" i="0">
                <a:solidFill>
                  <a:srgbClr val="93A4C2"/>
                </a:solidFill>
                <a:latin typeface="Segoe UI"/>
              </a:rPr>
              <a:t>Tools/inputs: anomaly score, per-feature attribution, retrieved ATT&amp;CK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58568"/>
            <a:ext cx="4434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B8CFF"/>
                </a:solidFill>
                <a:latin typeface="Segoe UI"/>
              </a:rPr>
              <a:t>• </a:t>
            </a:r>
            <a:r>
              <a:rPr sz="1100" b="0" i="0">
                <a:solidFill>
                  <a:srgbClr val="93A4C2"/>
                </a:solidFill>
                <a:latin typeface="Segoe UI"/>
              </a:rPr>
              <a:t>Confirms which techniques the evidence supports; sets severity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26080"/>
            <a:ext cx="6675120" cy="1115568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651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01752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2F6FC"/>
                </a:solidFill>
                <a:latin typeface="Segoe UI"/>
              </a:rPr>
              <a:t>Report-Writer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46704"/>
            <a:ext cx="6400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9C2FF"/>
                </a:solidFill>
                <a:latin typeface="Segoe UI"/>
              </a:rPr>
              <a:t>LLM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35808"/>
            <a:ext cx="4434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9C2FF"/>
                </a:solidFill>
                <a:latin typeface="Segoe UI"/>
              </a:rPr>
              <a:t>• </a:t>
            </a:r>
            <a:r>
              <a:rPr sz="1100" b="0" i="0">
                <a:solidFill>
                  <a:srgbClr val="93A4C2"/>
                </a:solidFill>
                <a:latin typeface="Segoe UI"/>
              </a:rPr>
              <a:t>Tool: the analyst's assessment + the grounded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493008"/>
            <a:ext cx="4434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9C2FF"/>
                </a:solidFill>
                <a:latin typeface="Segoe UI"/>
              </a:rPr>
              <a:t>• </a:t>
            </a:r>
            <a:r>
              <a:rPr sz="1100" b="0" i="0">
                <a:solidFill>
                  <a:srgbClr val="93A4C2"/>
                </a:solidFill>
                <a:latin typeface="Segoe UI"/>
              </a:rPr>
              <a:t>Emits the structured SOC report, then signals TERMINATE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60520"/>
            <a:ext cx="6675120" cy="1115568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6510">
            <a:solidFill>
              <a:srgbClr val="46E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25196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2F6FC"/>
                </a:solidFill>
                <a:latin typeface="Segoe UI"/>
              </a:rPr>
              <a:t>Evidence (UserProxy)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81144"/>
            <a:ext cx="6400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6E09B"/>
                </a:solidFill>
                <a:latin typeface="Segoe UI"/>
              </a:rPr>
              <a:t>orchestration agent — no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70248"/>
            <a:ext cx="4434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6E09B"/>
                </a:solidFill>
                <a:latin typeface="Segoe UI"/>
              </a:rPr>
              <a:t>• </a:t>
            </a:r>
            <a:r>
              <a:rPr sz="1100" b="0" i="0">
                <a:solidFill>
                  <a:srgbClr val="93A4C2"/>
                </a:solidFill>
                <a:latin typeface="Segoe UI"/>
              </a:rPr>
              <a:t>Seeds the chat with the grounded prompt; detects TERMINATE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727448"/>
            <a:ext cx="4434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6E09B"/>
                </a:solidFill>
                <a:latin typeface="Segoe UI"/>
              </a:rPr>
              <a:t>• </a:t>
            </a:r>
            <a:r>
              <a:rPr sz="1100" b="0" i="0">
                <a:solidFill>
                  <a:srgbClr val="93A4C2"/>
                </a:solidFill>
                <a:latin typeface="Segoe UI"/>
              </a:rPr>
              <a:t>Round-robin GroupChat, bounded to 4 rounds (token/latency cap)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691640"/>
            <a:ext cx="4224528" cy="3584448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1792224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LLM invocations (Groq)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212848"/>
            <a:ext cx="1143000" cy="36576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0" y="2212848"/>
            <a:ext cx="1143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9B8CFF"/>
                </a:solidFill>
                <a:latin typeface="Segoe UI"/>
              </a:rPr>
              <a:t>Per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624328"/>
            <a:ext cx="3840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4C2"/>
                </a:solidFill>
                <a:latin typeface="Segoe UI"/>
              </a:rPr>
              <a:t>AG2 group chat — Analyst + Writer reason and produce the CTI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127248"/>
            <a:ext cx="1143000" cy="36576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0" y="3127248"/>
            <a:ext cx="1143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9B8CFF"/>
                </a:solidFill>
                <a:latin typeface="Segoe UI"/>
              </a:rPr>
              <a:t>Periodic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538728"/>
            <a:ext cx="3840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4C2"/>
                </a:solidFill>
                <a:latin typeface="Segoe UI"/>
              </a:rPr>
              <a:t>UI situation summary — one SOC-analyst completion over live state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041648"/>
            <a:ext cx="1143000" cy="36576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4041648"/>
            <a:ext cx="1143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9B8CFF"/>
                </a:solidFill>
                <a:latin typeface="Segoe UI"/>
              </a:rPr>
              <a:t>On demand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453128"/>
            <a:ext cx="3840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3A4C2"/>
                </a:solidFill>
                <a:latin typeface="Segoe UI"/>
              </a:rPr>
              <a:t>Live model switch — pick the Groq model for the whole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440680"/>
            <a:ext cx="1106424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F6FC"/>
                </a:solidFill>
                <a:latin typeface="Segoe UI"/>
              </a:rPr>
              <a:t>Bounded &amp; graceful: 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the group chat is capped, throttled (one LLM report per cooldown), and </a:t>
            </a:r>
            <a:r>
              <a:rPr sz="1250" b="1" i="0">
                <a:solidFill>
                  <a:srgbClr val="39C2FF"/>
                </a:solidFill>
                <a:latin typeface="Segoe UI"/>
              </a:rPr>
              <a:t>never a hard dependency</a:t>
            </a:r>
            <a:r>
              <a:rPr sz="1250" b="0" i="0">
                <a:solidFill>
                  <a:srgbClr val="93A4C2"/>
                </a:solidFill>
                <a:latin typeface="Segoe UI"/>
              </a:rPr>
              <a:t> — no key or any error falls back to a deterministic grounded report. The air-gapped defender never calls an 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THE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0241280" cy="5591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300" b="1" i="0" dirty="0">
                <a:solidFill>
                  <a:srgbClr val="F2F6FC"/>
                </a:solidFill>
                <a:latin typeface="Segoe UI"/>
              </a:rPr>
              <a:t>Main technologies used</a:t>
            </a:r>
            <a:endParaRPr sz="3300" b="1" i="0" dirty="0">
              <a:solidFill>
                <a:srgbClr val="F2F6FC"/>
              </a:solidFill>
              <a:latin typeface="Segoe UI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247120" y="411480"/>
            <a:ext cx="566928" cy="566928"/>
          </a:xfrm>
          <a:prstGeom prst="ellipse">
            <a:avLst/>
          </a:prstGeom>
          <a:solidFill>
            <a:srgbClr val="142038"/>
          </a:solidFill>
          <a:ln w="1524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41148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1463040" cy="4572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109728" cy="86868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92807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40280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Isolated, internal-only 3-container detonation plane (the air-gap)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78308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3056" y="1783080"/>
            <a:ext cx="109728" cy="86868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892807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Apache 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240280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KRaft transport spine carrying capture / alerts / CTI between zones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61488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761488"/>
            <a:ext cx="109728" cy="86868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2871216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PyTorch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218688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The character-embedding sequence autoencoder (the lexical detector)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2761488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3056" y="2761488"/>
            <a:ext cx="109728" cy="86868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2871216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scikit-learn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218688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Isolation Forest — the behavioural, per-window detector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39896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739896"/>
            <a:ext cx="109728" cy="868680"/>
          </a:xfrm>
          <a:prstGeom prst="rect">
            <a:avLst/>
          </a:prstGeom>
          <a:solidFill>
            <a:srgbClr val="46E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849624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AG2 (AutoGen)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197096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Multi-agent group chat that writes the grounded CTI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3739896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63056" y="3739896"/>
            <a:ext cx="109728" cy="868680"/>
          </a:xfrm>
          <a:prstGeom prst="rect">
            <a:avLst/>
          </a:prstGeom>
          <a:solidFill>
            <a:srgbClr val="46E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7376" y="3849624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Groq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197096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Fast OpenAI-compatible LLM inference for the agents &amp; summary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718304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66928" y="4718304"/>
            <a:ext cx="109728" cy="868680"/>
          </a:xfrm>
          <a:prstGeom prst="rect">
            <a:avLst/>
          </a:prstGeom>
          <a:solidFill>
            <a:srgbClr val="FF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4828032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FastAPI + 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5175504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Live SOC dashboard — streams traffic, detections &amp; CTI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4718304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63056" y="4718304"/>
            <a:ext cx="109728" cy="8686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7376" y="4828032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F6FC"/>
                </a:solidFill>
                <a:latin typeface="Segoe UI"/>
              </a:rPr>
              <a:t>NVIDIA Morpheus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5175504"/>
            <a:ext cx="5074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93A4C2"/>
                </a:solidFill>
                <a:latin typeface="Segoe UI"/>
              </a:rPr>
              <a:t>Plug-and-play GPU DFP backend behind the same detector 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943600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3A4C2"/>
                </a:solidFill>
                <a:latin typeface="Segoe UI"/>
              </a:rPr>
              <a:t>Plus </a:t>
            </a:r>
            <a:r>
              <a:rPr sz="1200" b="1" i="0">
                <a:solidFill>
                  <a:srgbClr val="F2F6FC"/>
                </a:solidFill>
                <a:latin typeface="Consolas"/>
              </a:rPr>
              <a:t>uv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 for the Python environment and a curated </a:t>
            </a:r>
            <a:r>
              <a:rPr sz="1200" b="1" i="0">
                <a:solidFill>
                  <a:srgbClr val="F2F6FC"/>
                </a:solidFill>
                <a:latin typeface="Segoe UI"/>
              </a:rPr>
              <a:t>MITRE ATT&amp;CK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 knowledge base for RAG grounding.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9C2FF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02412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2F6FC"/>
                </a:solidFill>
                <a:latin typeface="Segoe UI"/>
              </a:rPr>
              <a:t>What we proved — and where it goes next</a:t>
            </a:r>
          </a:p>
        </p:txBody>
      </p:sp>
      <p:sp>
        <p:nvSpPr>
          <p:cNvPr id="6" name="Oval 5"/>
          <p:cNvSpPr/>
          <p:nvPr/>
        </p:nvSpPr>
        <p:spPr>
          <a:xfrm>
            <a:off x="11247120" y="411480"/>
            <a:ext cx="566928" cy="566928"/>
          </a:xfrm>
          <a:prstGeom prst="ellipse">
            <a:avLst/>
          </a:prstGeom>
          <a:solidFill>
            <a:srgbClr val="142038"/>
          </a:solidFill>
          <a:ln w="1524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41148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9C2FF"/>
                </a:solidFill>
                <a:latin typeface="Segoe U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1463040" cy="45720"/>
          </a:xfrm>
          <a:prstGeom prst="rect">
            <a:avLst/>
          </a:prstGeom>
          <a:solidFill>
            <a:srgbClr val="39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46E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6517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46E09B"/>
                </a:solidFill>
                <a:latin typeface="Segoe UI"/>
              </a:rPr>
              <a:t>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78608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2F6FC"/>
                </a:solidFill>
                <a:latin typeface="Segoe UI"/>
              </a:rPr>
              <a:t>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89504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held-out CIC-Bell exfil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7830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39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938528"/>
            <a:ext cx="26517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9C2FF"/>
                </a:solidFill>
                <a:latin typeface="Segoe UI"/>
              </a:rPr>
              <a:t>1.000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578608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2F6FC"/>
                </a:solidFill>
                <a:latin typeface="Segoe UI"/>
              </a:rPr>
              <a:t>Recall @ 0.1% FPR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889504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almost no false alarms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830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4768" y="1938528"/>
            <a:ext cx="26517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9B8CFF"/>
                </a:solidFill>
                <a:latin typeface="Segoe UI"/>
              </a:rPr>
              <a:t>1.000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578608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2F6FC"/>
                </a:solidFill>
                <a:latin typeface="Segoe UI"/>
              </a:rPr>
              <a:t>MITRE top-3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889504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tunneling · exfil · C2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7" y="17830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142038"/>
          </a:solidFill>
          <a:ln w="1778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3687" y="1938528"/>
            <a:ext cx="26517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6B6B"/>
                </a:solidFill>
                <a:latin typeface="Segoe U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7" y="2578608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2F6FC"/>
                </a:solidFill>
                <a:latin typeface="Segoe UI"/>
              </a:rPr>
              <a:t>internet 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7" y="2889504"/>
            <a:ext cx="26517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3A4C2"/>
                </a:solidFill>
                <a:latin typeface="Segoe UI"/>
              </a:rPr>
              <a:t>detonation plane air-gapped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52044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621024"/>
            <a:ext cx="51206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9C2FF"/>
                </a:solidFill>
                <a:latin typeface="Segoe UI"/>
              </a:rPr>
              <a:t>Key findings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41648"/>
            <a:ext cx="516636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6E09B"/>
                </a:solidFill>
                <a:latin typeface="Segoe UI"/>
              </a:rPr>
              <a:t>✓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Representation &gt; algorithm — per-query lexical signal wins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53128"/>
            <a:ext cx="516636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6E09B"/>
                </a:solidFill>
                <a:latin typeface="Segoe UI"/>
              </a:rPr>
              <a:t>✓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Defence-in-depth: lexical + behavioural cover blind spots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64608"/>
            <a:ext cx="516636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6E09B"/>
                </a:solidFill>
                <a:latin typeface="Segoe UI"/>
              </a:rPr>
              <a:t>✓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Found &amp; fixed a domain-shift FP (reverse-DNS 4.89 → 1.04)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76088"/>
            <a:ext cx="516636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46E09B"/>
                </a:solidFill>
                <a:latin typeface="Segoe UI"/>
              </a:rPr>
              <a:t>✓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Detect AND explain — same evidence drives eval and CTI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5204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0F182C"/>
          </a:solidFill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621024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B8CFF"/>
                </a:solidFill>
                <a:latin typeface="Segoe UI"/>
              </a:rPr>
              <a:t>Future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41648"/>
            <a:ext cx="512064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Segoe UI"/>
              </a:rPr>
              <a:t>→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Run the Morpheus DFP GPU backend — CPU-vs-GPU throughput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53128"/>
            <a:ext cx="512064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Segoe UI"/>
              </a:rPr>
              <a:t>→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Adaptive thresholds + online learning to track domain shift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64608"/>
            <a:ext cx="512064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B8CFF"/>
                </a:solidFill>
                <a:latin typeface="Segoe UI"/>
              </a:rPr>
              <a:t>→ </a:t>
            </a:r>
            <a:r>
              <a:rPr sz="1200" b="0" i="0">
                <a:solidFill>
                  <a:srgbClr val="93A4C2"/>
                </a:solidFill>
                <a:latin typeface="Segoe UI"/>
              </a:rPr>
              <a:t>Extend to more covert-channel protocols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1047</Words>
  <Application>Microsoft Office PowerPoint</Application>
  <PresentationFormat>מסך רחב</PresentationFormat>
  <Paragraphs>165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Tal Berkovitch</cp:lastModifiedBy>
  <cp:revision>3</cp:revision>
  <dcterms:created xsi:type="dcterms:W3CDTF">2013-01-27T09:14:16Z</dcterms:created>
  <dcterms:modified xsi:type="dcterms:W3CDTF">2026-06-30T20:35:43Z</dcterms:modified>
  <cp:category/>
</cp:coreProperties>
</file>